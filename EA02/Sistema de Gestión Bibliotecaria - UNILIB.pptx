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8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4538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293CF-F289-850C-8DFE-44B01E49E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745020-4628-15CF-D786-136B59F49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384D12-C26F-4F12-9CD3-90B89A010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2C622-F4D1-7924-008A-326EFD2DF5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8288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B938E-1FEE-913B-463F-9684EF916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AE049-F1E5-0420-5194-5D2BB61AC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78209A-1E98-29C9-A582-3656CBA3C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C6377-4B20-E64C-8CBC-45D560A4C7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8335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microsoft.com/office/2007/relationships/hdphoto" Target="../media/hdphoto5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6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9B9B"/>
          </a:solidFill>
          <a:ln w="12700">
            <a:solidFill>
              <a:srgbClr val="0F9B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164592" y="1261872"/>
            <a:ext cx="525780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Gestión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Bibliotecaria - UNILIB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30906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de Rúbrica 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35478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D7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 UML · Arquitectura 4+1 · Calidad ISO/IEC 25010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909560" y="1508760"/>
            <a:ext cx="1005840" cy="960120"/>
          </a:xfrm>
          <a:prstGeom prst="rect">
            <a:avLst/>
          </a:prstGeom>
          <a:solidFill>
            <a:srgbClr val="0F9B9B"/>
          </a:solidFill>
          <a:ln w="12700">
            <a:solidFill>
              <a:srgbClr val="0F9B9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098280" y="1975104"/>
            <a:ext cx="1234440" cy="960120"/>
          </a:xfrm>
          <a:prstGeom prst="rect">
            <a:avLst/>
          </a:prstGeom>
          <a:solidFill>
            <a:srgbClr val="116B83"/>
          </a:solidFill>
          <a:ln w="12700">
            <a:solidFill>
              <a:srgbClr val="116B8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83880" y="3337560"/>
            <a:ext cx="1234440" cy="9601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464040" y="3822192"/>
            <a:ext cx="1005840" cy="9601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" y="59253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D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resumido para exposición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645566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9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UNILIB · Ingeniería de Software · Rúbrica 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972800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6B83"/>
          </a:solidFill>
          <a:ln w="12700">
            <a:solidFill>
              <a:srgbClr val="116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la segunda parte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por las entregas clave: desde requisitos hasta evaluación de calidad del sistema.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38528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07792" y="2212848"/>
            <a:ext cx="411480" cy="41148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474720" y="1938528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 UML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05272" y="2212848"/>
            <a:ext cx="411480" cy="41148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172200" y="1938528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4+1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02752" y="2212848"/>
            <a:ext cx="411480" cy="41148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869680" y="1938528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ISO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3977640"/>
            <a:ext cx="4663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Evidenciar el diseño completo del sistema UNILIB mediante UML, arquitectura 4+1 e ISO/IEC 25010.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3977640"/>
            <a:ext cx="4480560" cy="1078992"/>
          </a:xfrm>
          <a:prstGeom prst="rect">
            <a:avLst/>
          </a:prstGeom>
          <a:solidFill>
            <a:srgbClr val="FFF8E7"/>
          </a:solidFill>
          <a:ln w="12700">
            <a:solidFill>
              <a:srgbClr val="E9C46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sólida y trazable como base para construcción, integración, pruebas y mantenimiento futuro.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45566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UNILIB · Ingeniería de Software · Rúbrica 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972800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1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6B83"/>
          </a:solidFill>
          <a:ln w="12700">
            <a:solidFill>
              <a:srgbClr val="116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funcionales clave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Agrupados por módulos para facilitar diseño y trazabilidad.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1965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y roles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1252728" y="2761488"/>
            <a:ext cx="658368" cy="658368"/>
          </a:xfrm>
          <a:prstGeom prst="rect">
            <a:avLst/>
          </a:prstGeom>
          <a:solidFill>
            <a:srgbClr val="116B83"/>
          </a:solidFill>
          <a:ln w="12700">
            <a:solidFill>
              <a:srgbClr val="116B8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67588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RF-01, RF-02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registro, login y perfiles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834640" y="1828800"/>
            <a:ext cx="1965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3493008" y="2761488"/>
            <a:ext cx="658368" cy="6583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880360" y="367588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RF-03, RF-09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y CRUD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074920" y="1828800"/>
            <a:ext cx="1965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Préstamos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5733288" y="2761488"/>
            <a:ext cx="658368" cy="658368"/>
          </a:xfrm>
          <a:prstGeom prst="rect">
            <a:avLst/>
          </a:prstGeom>
          <a:solidFill>
            <a:srgbClr val="2D7FA3"/>
          </a:solidFill>
          <a:ln w="12700">
            <a:solidFill>
              <a:srgbClr val="2D7FA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20640" y="367588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RF-04, RF-05, RF-06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solicitud, devolución, renovación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315200" y="1828800"/>
            <a:ext cx="1965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Reservas y multas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973568" y="2761488"/>
            <a:ext cx="658368" cy="65836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60920" y="367588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RF-07, RF-11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 de espera y cálculo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555480" y="1828800"/>
            <a:ext cx="1965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y auditoría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10213848" y="2761488"/>
            <a:ext cx="658368" cy="65836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01200" y="367588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RF-10, RF-13, RF-14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reportes, logs y validación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1463040" y="5349240"/>
            <a:ext cx="9235440" cy="438912"/>
          </a:xfrm>
          <a:prstGeom prst="rect">
            <a:avLst/>
          </a:prstGeom>
          <a:solidFill>
            <a:srgbClr val="EAF7F8"/>
          </a:solidFill>
          <a:ln w="12700">
            <a:solidFill>
              <a:srgbClr val="BFDD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RF alimentan los diagramas UML y la arquitectura por componentes.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45566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UNILIB · Ingeniería de Software · Rúbrica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972800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1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6B83"/>
          </a:solidFill>
          <a:ln w="12700">
            <a:solidFill>
              <a:srgbClr val="116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no funcionales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medibles para asegurar calidad del producto.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257800" y="2788920"/>
            <a:ext cx="1645920" cy="960120"/>
          </a:xfrm>
          <a:prstGeom prst="rect">
            <a:avLst/>
          </a:prstGeom>
          <a:solidFill>
            <a:srgbClr val="0B1D2A"/>
          </a:solidFill>
          <a:ln w="12700">
            <a:solidFill>
              <a:srgbClr val="0B1D2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UNILIB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783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 seg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2926080" y="1572768"/>
            <a:ext cx="1783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7498080" y="1572768"/>
            <a:ext cx="1783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· TLS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9646920" y="1874520"/>
            <a:ext cx="1783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Usabilidad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hora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1371600" y="4736592"/>
            <a:ext cx="1783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Mantenibilidad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≥ 80%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5120640" y="5074920"/>
            <a:ext cx="1783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Portabilidad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8732520" y="4736592"/>
            <a:ext cx="1783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 usuarios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502920" y="645566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UNILIB · Ingeniería de Software · Rúbrica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972800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1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6B83"/>
          </a:solidFill>
          <a:ln w="12700">
            <a:solidFill>
              <a:srgbClr val="116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 UML aplicado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diagrama resuelve una pregunta distinta del diseño.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Actores, roles y funciones del sistema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017520" y="1828800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Entidades, atributos y relaciones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0" y="1828800"/>
            <a:ext cx="2148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Módulos, interfaces y dependencias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0" y="1828800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Pasos, decisiones y transiciones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63440" y="3977640"/>
            <a:ext cx="2331720" cy="1005840"/>
          </a:xfrm>
          <a:prstGeom prst="rect">
            <a:avLst/>
          </a:prstGeom>
          <a:solidFill>
            <a:srgbClr val="FFF8E7"/>
          </a:solidFill>
          <a:ln w="12700">
            <a:solidFill>
              <a:srgbClr val="E9C46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Servidores, nodos y comunicación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71600" y="5486400"/>
            <a:ext cx="9052560" cy="384048"/>
          </a:xfrm>
          <a:prstGeom prst="rect">
            <a:avLst/>
          </a:prstGeom>
          <a:solidFill>
            <a:srgbClr val="EAF7F8"/>
          </a:solidFill>
          <a:ln w="12700">
            <a:solidFill>
              <a:srgbClr val="BFDD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5 diagramas UML cubren todos los aspectos del diseño del sistema.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645566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UNILIB · Ingeniería de Software · Rúbrica 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0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1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6B83"/>
          </a:solidFill>
          <a:ln w="12700">
            <a:solidFill>
              <a:srgbClr val="116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uso: actores y servicios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los actores del sistema (Estudiante, Bibliotecario, Admin) y sus interacciones con los módulos principales: préstamos, reservas, catálogo y reportes.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1426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UNILIB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645566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UNILIB · Ingeniería de Software · Rúbrica 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972800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1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A01768D4-D7A6-9B27-A907-3CCF1FF01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77121" y="1399032"/>
            <a:ext cx="20374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6B83"/>
          </a:solidFill>
          <a:ln w="12700">
            <a:solidFill>
              <a:srgbClr val="116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Clases: modelo de dominio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dominio con clases clave: Usuario, Libro, Préstamo, Reserva y Multa. Incluye atributos, métodos y relaciones de cardinalidad entre entidades.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45566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UNILIB · Ingeniería de Software · Rúbrica 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972800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1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9F0C2F00-B87A-7F83-83C3-D59367D9C4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920" y="1879041"/>
            <a:ext cx="10789920" cy="35571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6B83"/>
          </a:solidFill>
          <a:ln w="12700">
            <a:solidFill>
              <a:srgbClr val="116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Componentes: integración del sistema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React se comunica con la API REST (Node.js/Spring). Los módulos internos: Auth, Catálogo, Préstamos, Reservas y Notificaciones acceden a la base de datos central.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45566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UNILIB · Ingeniería de Software · Rúbrica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972800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1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03EE86C1-45DA-AD05-9F1A-D8A31E4D8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3080" y="1971064"/>
            <a:ext cx="10789920" cy="33933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6B83"/>
          </a:solidFill>
          <a:ln w="12700">
            <a:solidFill>
              <a:srgbClr val="116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Actividad: solicitud de préstamo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Estudiante busca y solicita un libro. El sistema verifica disponibilidad, registra el préstamo y envía notificación de confirmación con fecha de devolución.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45566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UNILIB · Ingeniería de Software · Rúbrica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972800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1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D1513A37-C4E8-7F59-BFE1-99D5393E0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71840" y="1517904"/>
            <a:ext cx="47435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24705-B13C-07B9-084C-B3250066E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832D72-2076-5E5C-E4AD-DBCC819DD803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6B83"/>
          </a:solidFill>
          <a:ln w="12700">
            <a:solidFill>
              <a:srgbClr val="116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61AA55-C5FC-8244-5336-9A78BD7B1823}"/>
              </a:ext>
            </a:extLst>
          </p:cNvPr>
          <p:cNvSpPr/>
          <p:nvPr/>
        </p:nvSpPr>
        <p:spPr>
          <a:xfrm>
            <a:off x="502920" y="40233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s-419" sz="3000" b="1" dirty="0">
                <a:latin typeface="+mj-lt"/>
              </a:rPr>
              <a:t>Diagrama de Secuencia - Solicitud de Préstamo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1B2FDD0-7DC0-AC57-FE1E-E03D7A611F62}"/>
              </a:ext>
            </a:extLst>
          </p:cNvPr>
          <p:cNvSpPr/>
          <p:nvPr/>
        </p:nvSpPr>
        <p:spPr>
          <a:xfrm>
            <a:off x="530352" y="98755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s-419" sz="1400" dirty="0"/>
              <a:t>El diagrama representa la interacción temporal entre el estudiante, </a:t>
            </a:r>
            <a:r>
              <a:rPr lang="es-419" sz="1400" dirty="0" err="1"/>
              <a:t>frontend</a:t>
            </a:r>
            <a:r>
              <a:rPr lang="es-419" sz="1400" dirty="0"/>
              <a:t>, API REST y servicios </a:t>
            </a:r>
            <a:r>
              <a:rPr lang="es-419" sz="1400" dirty="0" err="1"/>
              <a:t>backend</a:t>
            </a:r>
            <a:r>
              <a:rPr lang="es-419" sz="1400" dirty="0"/>
              <a:t> durante el proceso de préstamo bibliotecario.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5DBAD67-93C6-D774-8CD4-17D1A04A95C2}"/>
              </a:ext>
            </a:extLst>
          </p:cNvPr>
          <p:cNvSpPr/>
          <p:nvPr/>
        </p:nvSpPr>
        <p:spPr>
          <a:xfrm>
            <a:off x="502920" y="645566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UNILIB · Ingeniería de Software · Rúbrica 2</a:t>
            </a:r>
            <a:endParaRPr lang="en-US" sz="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35E33B4-1053-C3A4-639F-EE41BC91BADC}"/>
              </a:ext>
            </a:extLst>
          </p:cNvPr>
          <p:cNvSpPr/>
          <p:nvPr/>
        </p:nvSpPr>
        <p:spPr>
          <a:xfrm>
            <a:off x="10972800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1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AA21B77-FA43-C2B0-950B-0FE9CDFC5A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42972" y="1344169"/>
            <a:ext cx="7305828" cy="493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898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6B83"/>
          </a:solidFill>
          <a:ln w="12700">
            <a:solidFill>
              <a:srgbClr val="116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Despliegue: infraestructura base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en navegador, API REST y servidor de aplicación en la nube, base de datos MySQL en servidor dedicado. Comunicación via HTTPS/TLS entre todos los nodos.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45566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UNILIB · Ingeniería de Software · Rúbrica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972800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1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F884BB5D-3753-3AA7-64FD-9201216BC2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88180" y="1399032"/>
            <a:ext cx="4415334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E43448-AA10-2AEC-9F34-88E36FD81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E5926BB-395F-6E05-E3C8-4E7D955CFCD7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6B83"/>
          </a:solidFill>
          <a:ln w="12700">
            <a:solidFill>
              <a:srgbClr val="116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16D45B0-0B18-7008-C2A1-61BE27E03671}"/>
              </a:ext>
            </a:extLst>
          </p:cNvPr>
          <p:cNvSpPr/>
          <p:nvPr/>
        </p:nvSpPr>
        <p:spPr>
          <a:xfrm>
            <a:off x="502920" y="40233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arquitectónico 4+1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837276-2767-F42A-AE24-91BDAD9E4845}"/>
              </a:ext>
            </a:extLst>
          </p:cNvPr>
          <p:cNvSpPr/>
          <p:nvPr/>
        </p:nvSpPr>
        <p:spPr>
          <a:xfrm>
            <a:off x="530352" y="98755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vistas para explicar diseño, desarrollo e integración.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52D02CD-BEA2-FC75-B2AE-CD20CC0D77AF}"/>
              </a:ext>
            </a:extLst>
          </p:cNvPr>
          <p:cNvSpPr/>
          <p:nvPr/>
        </p:nvSpPr>
        <p:spPr>
          <a:xfrm>
            <a:off x="502920" y="645566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UNILIB · Ingeniería de Software · Rúbrica 2</a:t>
            </a:r>
            <a:endParaRPr lang="en-US" sz="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C517F2C-FCE1-3228-F3B6-FE66011487F6}"/>
              </a:ext>
            </a:extLst>
          </p:cNvPr>
          <p:cNvSpPr/>
          <p:nvPr/>
        </p:nvSpPr>
        <p:spPr>
          <a:xfrm>
            <a:off x="10972800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1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65EB7309-48D1-4E83-9227-7CB066221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551024"/>
              </p:ext>
            </p:extLst>
          </p:nvPr>
        </p:nvGraphicFramePr>
        <p:xfrm>
          <a:off x="840015" y="1381856"/>
          <a:ext cx="10388817" cy="2671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2939">
                  <a:extLst>
                    <a:ext uri="{9D8B030D-6E8A-4147-A177-3AD203B41FA5}">
                      <a16:colId xmlns:a16="http://schemas.microsoft.com/office/drawing/2014/main" val="2849474879"/>
                    </a:ext>
                  </a:extLst>
                </a:gridCol>
                <a:gridCol w="3462939">
                  <a:extLst>
                    <a:ext uri="{9D8B030D-6E8A-4147-A177-3AD203B41FA5}">
                      <a16:colId xmlns:a16="http://schemas.microsoft.com/office/drawing/2014/main" val="736833772"/>
                    </a:ext>
                  </a:extLst>
                </a:gridCol>
                <a:gridCol w="3462939">
                  <a:extLst>
                    <a:ext uri="{9D8B030D-6E8A-4147-A177-3AD203B41FA5}">
                      <a16:colId xmlns:a16="http://schemas.microsoft.com/office/drawing/2014/main" val="601267013"/>
                    </a:ext>
                  </a:extLst>
                </a:gridCol>
              </a:tblGrid>
              <a:tr h="365664"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Vista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UML Aplicado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sz="1600" dirty="0"/>
                        <a:t>Objetivo Arquitectónico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236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1200" dirty="0"/>
                        <a:t>Vista lógica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1200" dirty="0"/>
                        <a:t>Diagrama de clases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200" dirty="0"/>
                        <a:t>Representar entidades y relaciones del dominio bibliotecario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758687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1200" dirty="0"/>
                        <a:t>Vista procesos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1200" dirty="0"/>
                        <a:t>Diagrama de actividades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419" sz="1200" dirty="0"/>
                        <a:t>Modelar el flujo operativo de préstamos y reservas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593154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1200" dirty="0"/>
                        <a:t>Vista desarrollo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1200" dirty="0"/>
                        <a:t>Diagrama de componentes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419" sz="1200" dirty="0"/>
                        <a:t>Organizar módulos desacoplados y mantenibles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77890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s-419" sz="1200" dirty="0"/>
                        <a:t>Vista física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200" dirty="0"/>
                        <a:t>Diagrama de despliegue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sz="1200" dirty="0"/>
                        <a:t>Representar infraestructura y comunicación segura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04616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s-419" sz="1200" dirty="0"/>
                        <a:t>+1 Escenarios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200" dirty="0"/>
                        <a:t>Diagrama de casos de 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sz="1200" dirty="0"/>
                        <a:t>Validar interacción entre actores y sistema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705916"/>
                  </a:ext>
                </a:extLst>
              </a:tr>
            </a:tbl>
          </a:graphicData>
        </a:graphic>
      </p:graphicFrame>
      <p:sp>
        <p:nvSpPr>
          <p:cNvPr id="15" name="CuadroTexto 14">
            <a:extLst>
              <a:ext uri="{FF2B5EF4-FFF2-40B4-BE49-F238E27FC236}">
                <a16:creationId xmlns:a16="http://schemas.microsoft.com/office/drawing/2014/main" id="{FC5204BA-AA94-FEA6-2E1B-09B399192240}"/>
              </a:ext>
            </a:extLst>
          </p:cNvPr>
          <p:cNvSpPr txBox="1"/>
          <p:nvPr/>
        </p:nvSpPr>
        <p:spPr>
          <a:xfrm>
            <a:off x="1045247" y="4537425"/>
            <a:ext cx="554859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400" b="1" dirty="0"/>
              <a:t>Decisiones Arquitectónicas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/>
              <a:t>Arquitectura cliente-servidor (frontend + backend separados)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/>
              <a:t>API REST desacoplada con versionado de endpoints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/>
              <a:t>Autenticación stateless con tokens JWT firmados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/>
              <a:t>Comunicación encriptada HTTPS/TLS en todos los canales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/>
              <a:t>Base de datos relacional MySQL/PostgreSQL con 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/>
              <a:t>Arquitectura modular orientada a mantenibilidad, escalabilidad y bajo acoplamiento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907826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9B9B"/>
          </a:solidFill>
          <a:ln w="12700">
            <a:solidFill>
              <a:srgbClr val="0F9B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seleccionada: ISO/IEC 25010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13232" y="12618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7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 internacional de calidad del producto software. Nielsen y WCAG complementan usabilidad y accesibilidad.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1508760" cy="749808"/>
          </a:xfrm>
          <a:prstGeom prst="rect">
            <a:avLst/>
          </a:prstGeom>
          <a:solidFill>
            <a:srgbClr val="0F9B9B"/>
          </a:solidFill>
          <a:ln w="12700">
            <a:solidFill>
              <a:srgbClr val="0F9B9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Adecuación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88920" y="2148840"/>
            <a:ext cx="1508760" cy="7498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2148840"/>
            <a:ext cx="1508760" cy="749808"/>
          </a:xfrm>
          <a:prstGeom prst="rect">
            <a:avLst/>
          </a:prstGeom>
          <a:solidFill>
            <a:srgbClr val="2D7FA3"/>
          </a:solidFill>
          <a:ln w="12700">
            <a:solidFill>
              <a:srgbClr val="2D7FA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Confiabilidad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37960" y="2148840"/>
            <a:ext cx="1508760" cy="7498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2148840"/>
            <a:ext cx="1508760" cy="7498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Usabilidad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3977640"/>
            <a:ext cx="1508760" cy="749808"/>
          </a:xfrm>
          <a:prstGeom prst="rect">
            <a:avLst/>
          </a:prstGeom>
          <a:solidFill>
            <a:srgbClr val="6D5DF2"/>
          </a:solidFill>
          <a:ln w="12700">
            <a:solidFill>
              <a:srgbClr val="6D5D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Mantenibilidad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3977640"/>
            <a:ext cx="1508760" cy="749808"/>
          </a:xfrm>
          <a:prstGeom prst="rect">
            <a:avLst/>
          </a:prstGeom>
          <a:solidFill>
            <a:srgbClr val="116B83"/>
          </a:solidFill>
          <a:ln w="12700">
            <a:solidFill>
              <a:srgbClr val="116B8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Portabilidad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3977640"/>
            <a:ext cx="1508760" cy="7498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06840" y="3886200"/>
            <a:ext cx="2331720" cy="1463040"/>
          </a:xfrm>
          <a:prstGeom prst="rect">
            <a:avLst/>
          </a:prstGeom>
          <a:solidFill>
            <a:srgbClr val="102D3E"/>
          </a:solidFill>
          <a:ln w="12700">
            <a:solidFill>
              <a:srgbClr val="1E506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7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rúbrica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D7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+ Arquitectura 4+1 + ISO/IEC 25010 conforman el marco completo de diseño, arquitectura y calidad del sistema.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3232" y="598932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UNILIB queda completamente trazable: desde los requisitos funcionales hasta el diseño arquitectónico, pruebas y métricas de calidad.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645566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9C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UNILIB · Ingeniería de Software · Rúbrica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972800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826</Words>
  <Application>Microsoft Office PowerPoint</Application>
  <PresentationFormat>Panorámica</PresentationFormat>
  <Paragraphs>172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DUOC 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UNILIB - Rúbrica 2</dc:title>
  <dc:subject>Modelado UML, Arquitectura 4+1, Requisitos y Calidad ISO</dc:subject>
  <dc:creator>OpenAI</dc:creator>
  <cp:lastModifiedBy>IGNACIO ANDRES ARNTZ GUERRA</cp:lastModifiedBy>
  <cp:revision>7</cp:revision>
  <dcterms:created xsi:type="dcterms:W3CDTF">2026-05-24T20:53:05Z</dcterms:created>
  <dcterms:modified xsi:type="dcterms:W3CDTF">2026-05-30T15:35:03Z</dcterms:modified>
</cp:coreProperties>
</file>